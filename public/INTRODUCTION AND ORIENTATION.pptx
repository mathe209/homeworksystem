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modernComment_103_5A1A9BD2.xml" ContentType="application/vnd.ms-powerpoint.comments+xml"/>
  <Override PartName="/ppt/comments/modernComment_104_8CB8B35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7C3365-A3DF-EDB1-EF27-A6F127EC7135}" name="Bloem Printings Pty Ltd" initials="BPPL" userId="de46c80e9468529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705" autoAdjust="0"/>
    <p:restoredTop sz="94660"/>
  </p:normalViewPr>
  <p:slideViewPr>
    <p:cSldViewPr snapToGrid="0">
      <p:cViewPr varScale="1">
        <p:scale>
          <a:sx n="87" d="100"/>
          <a:sy n="87" d="100"/>
        </p:scale>
        <p:origin x="10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omments/modernComment_103_5A1A9BD2.xml><?xml version="1.0" encoding="utf-8"?>
<p188:cmLst xmlns:a="http://schemas.openxmlformats.org/drawingml/2006/main" xmlns:r="http://schemas.openxmlformats.org/officeDocument/2006/relationships" xmlns:p188="http://schemas.microsoft.com/office/powerpoint/2018/8/main">
  <p188:cm id="{99BF872A-724F-4570-B4A6-CC06325EA50B}" authorId="{D57C3365-A3DF-EDB1-EF27-A6F127EC7135}" created="2025-07-20T16:12:00.450">
    <pc:sldMkLst xmlns:pc="http://schemas.microsoft.com/office/powerpoint/2013/main/command">
      <pc:docMk/>
      <pc:sldMk cId="1511693266" sldId="259"/>
    </pc:sldMkLst>
    <p188:txBody>
      <a:bodyPr/>
      <a:lstStyle/>
      <a:p>
        <a:r>
          <a:rPr lang="en-ZA"/>
          <a:t>Question=&gt; Why is technology relevant or important.
Answer=&gt; it keeps improving our lives.</a:t>
        </a:r>
      </a:p>
    </p188:txBody>
  </p188:cm>
</p188:cmLst>
</file>

<file path=ppt/comments/modernComment_104_8CB8B354.xml><?xml version="1.0" encoding="utf-8"?>
<p188:cmLst xmlns:a="http://schemas.openxmlformats.org/drawingml/2006/main" xmlns:r="http://schemas.openxmlformats.org/officeDocument/2006/relationships" xmlns:p188="http://schemas.microsoft.com/office/powerpoint/2018/8/main">
  <p188:cm id="{BDC21393-AC59-4331-9C34-BFE7C2C461A9}" authorId="{D57C3365-A3DF-EDB1-EF27-A6F127EC7135}" created="2025-07-20T16:07:14.901">
    <pc:sldMkLst xmlns:pc="http://schemas.microsoft.com/office/powerpoint/2013/main/command">
      <pc:docMk/>
      <pc:sldMk cId="2360914772" sldId="260"/>
    </pc:sldMkLst>
    <p188:txBody>
      <a:bodyPr/>
      <a:lstStyle/>
      <a:p>
        <a:r>
          <a:rPr lang="en-ZA"/>
          <a:t>What is innovation =&gt; make changes in something established, especially by introducing new methods, ideas, or products.</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4810B9-D6FF-49BF-9C48-CDE8AFBB9A92}" type="doc">
      <dgm:prSet loTypeId="urn:microsoft.com/office/officeart/2005/8/layout/hProcess9" loCatId="process" qsTypeId="urn:microsoft.com/office/officeart/2005/8/quickstyle/simple1" qsCatId="simple" csTypeId="urn:microsoft.com/office/officeart/2005/8/colors/accent1_2" csCatId="accent1" phldr="1"/>
      <dgm:spPr/>
    </dgm:pt>
    <dgm:pt modelId="{B823FF53-C690-4C12-8E90-50E87C8042E7}">
      <dgm:prSet phldrT="[Text]"/>
      <dgm:spPr/>
      <dgm:t>
        <a:bodyPr/>
        <a:lstStyle/>
        <a:p>
          <a:r>
            <a:rPr lang="en-US" dirty="0"/>
            <a:t>Video about the history of tech</a:t>
          </a:r>
          <a:endParaRPr lang="en-ZA" dirty="0"/>
        </a:p>
      </dgm:t>
    </dgm:pt>
    <dgm:pt modelId="{0E9A89C9-8161-4FFE-81F1-E6FD862CDED2}" type="parTrans" cxnId="{29CBC5E1-CF55-4FFE-9F45-BC1E6155AE2D}">
      <dgm:prSet/>
      <dgm:spPr/>
      <dgm:t>
        <a:bodyPr/>
        <a:lstStyle/>
        <a:p>
          <a:endParaRPr lang="en-ZA"/>
        </a:p>
      </dgm:t>
    </dgm:pt>
    <dgm:pt modelId="{CE5361B8-2EFA-4ED7-BBE6-6E58CDE1320A}" type="sibTrans" cxnId="{29CBC5E1-CF55-4FFE-9F45-BC1E6155AE2D}">
      <dgm:prSet/>
      <dgm:spPr/>
      <dgm:t>
        <a:bodyPr/>
        <a:lstStyle/>
        <a:p>
          <a:endParaRPr lang="en-ZA"/>
        </a:p>
      </dgm:t>
    </dgm:pt>
    <dgm:pt modelId="{701D4941-5C14-49C8-BCF4-800DDBAAB29D}">
      <dgm:prSet phldrT="[Text]"/>
      <dgm:spPr/>
      <dgm:t>
        <a:bodyPr/>
        <a:lstStyle/>
        <a:p>
          <a:r>
            <a:rPr lang="en-US" dirty="0"/>
            <a:t>Note Taking</a:t>
          </a:r>
          <a:endParaRPr lang="en-ZA" dirty="0"/>
        </a:p>
      </dgm:t>
    </dgm:pt>
    <dgm:pt modelId="{A04E7E11-48AD-4E6E-957C-0690BD4B9F42}" type="parTrans" cxnId="{87D2441C-1712-4623-A0E9-66E09384F10E}">
      <dgm:prSet/>
      <dgm:spPr/>
      <dgm:t>
        <a:bodyPr/>
        <a:lstStyle/>
        <a:p>
          <a:endParaRPr lang="en-ZA"/>
        </a:p>
      </dgm:t>
    </dgm:pt>
    <dgm:pt modelId="{72B19631-AF23-4B82-A7B0-ACF934161774}" type="sibTrans" cxnId="{87D2441C-1712-4623-A0E9-66E09384F10E}">
      <dgm:prSet/>
      <dgm:spPr/>
      <dgm:t>
        <a:bodyPr/>
        <a:lstStyle/>
        <a:p>
          <a:endParaRPr lang="en-ZA"/>
        </a:p>
      </dgm:t>
    </dgm:pt>
    <dgm:pt modelId="{AC58278D-3CC4-4CFB-A8DA-14B1728E3651}">
      <dgm:prSet phldrT="[Text]"/>
      <dgm:spPr/>
      <dgm:t>
        <a:bodyPr/>
        <a:lstStyle/>
        <a:p>
          <a:r>
            <a:rPr lang="en-US" dirty="0"/>
            <a:t>Presentations</a:t>
          </a:r>
          <a:endParaRPr lang="en-ZA" dirty="0"/>
        </a:p>
      </dgm:t>
    </dgm:pt>
    <dgm:pt modelId="{393CA270-FEDE-4D32-BCBA-B3CEE2DE37ED}" type="parTrans" cxnId="{7508B9BE-A817-40FC-9C84-A56728D79787}">
      <dgm:prSet/>
      <dgm:spPr/>
      <dgm:t>
        <a:bodyPr/>
        <a:lstStyle/>
        <a:p>
          <a:endParaRPr lang="en-ZA"/>
        </a:p>
      </dgm:t>
    </dgm:pt>
    <dgm:pt modelId="{200F7362-DDC8-4122-9C35-840DFFC5500C}" type="sibTrans" cxnId="{7508B9BE-A817-40FC-9C84-A56728D79787}">
      <dgm:prSet/>
      <dgm:spPr/>
      <dgm:t>
        <a:bodyPr/>
        <a:lstStyle/>
        <a:p>
          <a:endParaRPr lang="en-ZA"/>
        </a:p>
      </dgm:t>
    </dgm:pt>
    <dgm:pt modelId="{7D03F8CC-5A38-46E0-86C9-6B34923A9F14}" type="pres">
      <dgm:prSet presAssocID="{0F4810B9-D6FF-49BF-9C48-CDE8AFBB9A92}" presName="CompostProcess" presStyleCnt="0">
        <dgm:presLayoutVars>
          <dgm:dir/>
          <dgm:resizeHandles val="exact"/>
        </dgm:presLayoutVars>
      </dgm:prSet>
      <dgm:spPr/>
    </dgm:pt>
    <dgm:pt modelId="{7AC8C080-355F-4874-BD13-9E94518909FE}" type="pres">
      <dgm:prSet presAssocID="{0F4810B9-D6FF-49BF-9C48-CDE8AFBB9A92}" presName="arrow" presStyleLbl="bgShp" presStyleIdx="0" presStyleCnt="1"/>
      <dgm:spPr/>
    </dgm:pt>
    <dgm:pt modelId="{EBD50C13-9B64-47D4-ABC4-53767A939F34}" type="pres">
      <dgm:prSet presAssocID="{0F4810B9-D6FF-49BF-9C48-CDE8AFBB9A92}" presName="linearProcess" presStyleCnt="0"/>
      <dgm:spPr/>
    </dgm:pt>
    <dgm:pt modelId="{4F7878DD-8991-4E60-8370-2496340B9544}" type="pres">
      <dgm:prSet presAssocID="{B823FF53-C690-4C12-8E90-50E87C8042E7}" presName="textNode" presStyleLbl="node1" presStyleIdx="0" presStyleCnt="3">
        <dgm:presLayoutVars>
          <dgm:bulletEnabled val="1"/>
        </dgm:presLayoutVars>
      </dgm:prSet>
      <dgm:spPr/>
    </dgm:pt>
    <dgm:pt modelId="{159AD132-8F58-49D1-A9FD-7E75BD948AD8}" type="pres">
      <dgm:prSet presAssocID="{CE5361B8-2EFA-4ED7-BBE6-6E58CDE1320A}" presName="sibTrans" presStyleCnt="0"/>
      <dgm:spPr/>
    </dgm:pt>
    <dgm:pt modelId="{1B0191A5-53E8-46E2-9BB8-E67C4BBD7853}" type="pres">
      <dgm:prSet presAssocID="{701D4941-5C14-49C8-BCF4-800DDBAAB29D}" presName="textNode" presStyleLbl="node1" presStyleIdx="1" presStyleCnt="3" custLinFactNeighborY="3487">
        <dgm:presLayoutVars>
          <dgm:bulletEnabled val="1"/>
        </dgm:presLayoutVars>
      </dgm:prSet>
      <dgm:spPr/>
    </dgm:pt>
    <dgm:pt modelId="{54A78B9C-8C5C-4239-84E1-BA808846B0D5}" type="pres">
      <dgm:prSet presAssocID="{72B19631-AF23-4B82-A7B0-ACF934161774}" presName="sibTrans" presStyleCnt="0"/>
      <dgm:spPr/>
    </dgm:pt>
    <dgm:pt modelId="{68F62582-4BAA-48D2-B60A-E0E1EE5D5219}" type="pres">
      <dgm:prSet presAssocID="{AC58278D-3CC4-4CFB-A8DA-14B1728E3651}" presName="textNode" presStyleLbl="node1" presStyleIdx="2" presStyleCnt="3">
        <dgm:presLayoutVars>
          <dgm:bulletEnabled val="1"/>
        </dgm:presLayoutVars>
      </dgm:prSet>
      <dgm:spPr/>
    </dgm:pt>
  </dgm:ptLst>
  <dgm:cxnLst>
    <dgm:cxn modelId="{87D2441C-1712-4623-A0E9-66E09384F10E}" srcId="{0F4810B9-D6FF-49BF-9C48-CDE8AFBB9A92}" destId="{701D4941-5C14-49C8-BCF4-800DDBAAB29D}" srcOrd="1" destOrd="0" parTransId="{A04E7E11-48AD-4E6E-957C-0690BD4B9F42}" sibTransId="{72B19631-AF23-4B82-A7B0-ACF934161774}"/>
    <dgm:cxn modelId="{FC2AAA5F-7464-4801-9D55-C166BCB0BF04}" type="presOf" srcId="{B823FF53-C690-4C12-8E90-50E87C8042E7}" destId="{4F7878DD-8991-4E60-8370-2496340B9544}" srcOrd="0" destOrd="0" presId="urn:microsoft.com/office/officeart/2005/8/layout/hProcess9"/>
    <dgm:cxn modelId="{845F0467-C478-4F79-9C37-0D5FD7104956}" type="presOf" srcId="{701D4941-5C14-49C8-BCF4-800DDBAAB29D}" destId="{1B0191A5-53E8-46E2-9BB8-E67C4BBD7853}" srcOrd="0" destOrd="0" presId="urn:microsoft.com/office/officeart/2005/8/layout/hProcess9"/>
    <dgm:cxn modelId="{98C4989F-37E2-48BE-9702-5F4B34308246}" type="presOf" srcId="{0F4810B9-D6FF-49BF-9C48-CDE8AFBB9A92}" destId="{7D03F8CC-5A38-46E0-86C9-6B34923A9F14}" srcOrd="0" destOrd="0" presId="urn:microsoft.com/office/officeart/2005/8/layout/hProcess9"/>
    <dgm:cxn modelId="{797B7CBC-484A-4C4F-A51D-C8231D6B9628}" type="presOf" srcId="{AC58278D-3CC4-4CFB-A8DA-14B1728E3651}" destId="{68F62582-4BAA-48D2-B60A-E0E1EE5D5219}" srcOrd="0" destOrd="0" presId="urn:microsoft.com/office/officeart/2005/8/layout/hProcess9"/>
    <dgm:cxn modelId="{7508B9BE-A817-40FC-9C84-A56728D79787}" srcId="{0F4810B9-D6FF-49BF-9C48-CDE8AFBB9A92}" destId="{AC58278D-3CC4-4CFB-A8DA-14B1728E3651}" srcOrd="2" destOrd="0" parTransId="{393CA270-FEDE-4D32-BCBA-B3CEE2DE37ED}" sibTransId="{200F7362-DDC8-4122-9C35-840DFFC5500C}"/>
    <dgm:cxn modelId="{29CBC5E1-CF55-4FFE-9F45-BC1E6155AE2D}" srcId="{0F4810B9-D6FF-49BF-9C48-CDE8AFBB9A92}" destId="{B823FF53-C690-4C12-8E90-50E87C8042E7}" srcOrd="0" destOrd="0" parTransId="{0E9A89C9-8161-4FFE-81F1-E6FD862CDED2}" sibTransId="{CE5361B8-2EFA-4ED7-BBE6-6E58CDE1320A}"/>
    <dgm:cxn modelId="{D7606EAD-A24B-4DD8-ABAE-C2CE9D495456}" type="presParOf" srcId="{7D03F8CC-5A38-46E0-86C9-6B34923A9F14}" destId="{7AC8C080-355F-4874-BD13-9E94518909FE}" srcOrd="0" destOrd="0" presId="urn:microsoft.com/office/officeart/2005/8/layout/hProcess9"/>
    <dgm:cxn modelId="{2A7BE505-58BC-48BA-83FE-9899A6FFFC2F}" type="presParOf" srcId="{7D03F8CC-5A38-46E0-86C9-6B34923A9F14}" destId="{EBD50C13-9B64-47D4-ABC4-53767A939F34}" srcOrd="1" destOrd="0" presId="urn:microsoft.com/office/officeart/2005/8/layout/hProcess9"/>
    <dgm:cxn modelId="{C68A8EC0-3A6E-442A-8E3D-96BC3CB27A77}" type="presParOf" srcId="{EBD50C13-9B64-47D4-ABC4-53767A939F34}" destId="{4F7878DD-8991-4E60-8370-2496340B9544}" srcOrd="0" destOrd="0" presId="urn:microsoft.com/office/officeart/2005/8/layout/hProcess9"/>
    <dgm:cxn modelId="{C627950D-7CE9-4A20-97B5-9139FC4C7541}" type="presParOf" srcId="{EBD50C13-9B64-47D4-ABC4-53767A939F34}" destId="{159AD132-8F58-49D1-A9FD-7E75BD948AD8}" srcOrd="1" destOrd="0" presId="urn:microsoft.com/office/officeart/2005/8/layout/hProcess9"/>
    <dgm:cxn modelId="{1E7F9376-AAC0-40F7-8093-6DADEA3280DF}" type="presParOf" srcId="{EBD50C13-9B64-47D4-ABC4-53767A939F34}" destId="{1B0191A5-53E8-46E2-9BB8-E67C4BBD7853}" srcOrd="2" destOrd="0" presId="urn:microsoft.com/office/officeart/2005/8/layout/hProcess9"/>
    <dgm:cxn modelId="{C9EE2940-5B38-4111-95A2-A6DCFF676D7E}" type="presParOf" srcId="{EBD50C13-9B64-47D4-ABC4-53767A939F34}" destId="{54A78B9C-8C5C-4239-84E1-BA808846B0D5}" srcOrd="3" destOrd="0" presId="urn:microsoft.com/office/officeart/2005/8/layout/hProcess9"/>
    <dgm:cxn modelId="{5941AE67-0FBE-4C53-8681-64A5FC437C8F}" type="presParOf" srcId="{EBD50C13-9B64-47D4-ABC4-53767A939F34}" destId="{68F62582-4BAA-48D2-B60A-E0E1EE5D5219}"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C8C080-355F-4874-BD13-9E94518909FE}">
      <dsp:nvSpPr>
        <dsp:cNvPr id="0" name=""/>
        <dsp:cNvSpPr/>
      </dsp:nvSpPr>
      <dsp:spPr>
        <a:xfrm>
          <a:off x="689769" y="0"/>
          <a:ext cx="7817391" cy="168651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7878DD-8991-4E60-8370-2496340B9544}">
      <dsp:nvSpPr>
        <dsp:cNvPr id="0" name=""/>
        <dsp:cNvSpPr/>
      </dsp:nvSpPr>
      <dsp:spPr>
        <a:xfrm>
          <a:off x="311653" y="505954"/>
          <a:ext cx="2759079" cy="67460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Video about the history of tech</a:t>
          </a:r>
          <a:endParaRPr lang="en-ZA" sz="1700" kern="1200" dirty="0"/>
        </a:p>
      </dsp:txBody>
      <dsp:txXfrm>
        <a:off x="344585" y="538886"/>
        <a:ext cx="2693215" cy="608741"/>
      </dsp:txXfrm>
    </dsp:sp>
    <dsp:sp modelId="{1B0191A5-53E8-46E2-9BB8-E67C4BBD7853}">
      <dsp:nvSpPr>
        <dsp:cNvPr id="0" name=""/>
        <dsp:cNvSpPr/>
      </dsp:nvSpPr>
      <dsp:spPr>
        <a:xfrm>
          <a:off x="3218925" y="529477"/>
          <a:ext cx="2759079" cy="67460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Note Taking</a:t>
          </a:r>
          <a:endParaRPr lang="en-ZA" sz="1700" kern="1200" dirty="0"/>
        </a:p>
      </dsp:txBody>
      <dsp:txXfrm>
        <a:off x="3251857" y="562409"/>
        <a:ext cx="2693215" cy="608741"/>
      </dsp:txXfrm>
    </dsp:sp>
    <dsp:sp modelId="{68F62582-4BAA-48D2-B60A-E0E1EE5D5219}">
      <dsp:nvSpPr>
        <dsp:cNvPr id="0" name=""/>
        <dsp:cNvSpPr/>
      </dsp:nvSpPr>
      <dsp:spPr>
        <a:xfrm>
          <a:off x="6126197" y="505954"/>
          <a:ext cx="2759079" cy="67460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Presentations</a:t>
          </a:r>
          <a:endParaRPr lang="en-ZA" sz="1700" kern="1200" dirty="0"/>
        </a:p>
      </dsp:txBody>
      <dsp:txXfrm>
        <a:off x="6159129" y="538886"/>
        <a:ext cx="2693215" cy="60874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354412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402368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0100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091D7E-878E-4E61-AF86-2E81DB1FC5E4}" type="datetimeFigureOut">
              <a:rPr lang="en-ZA" smtClean="0"/>
              <a:t>2025/07/20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124528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091D7E-878E-4E61-AF86-2E81DB1FC5E4}" type="datetimeFigureOut">
              <a:rPr lang="en-ZA" smtClean="0"/>
              <a:t>2025/07/20</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623598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26561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380734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9808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091D7E-878E-4E61-AF86-2E81DB1FC5E4}" type="datetimeFigureOut">
              <a:rPr lang="en-ZA" smtClean="0"/>
              <a:t>2025/07/20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42482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091D7E-878E-4E61-AF86-2E81DB1FC5E4}" type="datetimeFigureOut">
              <a:rPr lang="en-ZA" smtClean="0"/>
              <a:t>2025/07/20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237933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39457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14057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939544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390270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861872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2385469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91D7E-878E-4E61-AF86-2E81DB1FC5E4}" type="datetimeFigureOut">
              <a:rPr lang="en-ZA" smtClean="0"/>
              <a:t>2025/07/20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E4F0A3-1627-4A72-AEF6-23108B14B94E}" type="slidenum">
              <a:rPr lang="en-ZA" smtClean="0"/>
              <a:t>‹#›</a:t>
            </a:fld>
            <a:endParaRPr lang="en-ZA"/>
          </a:p>
        </p:txBody>
      </p:sp>
    </p:spTree>
    <p:extLst>
      <p:ext uri="{BB962C8B-B14F-4D97-AF65-F5344CB8AC3E}">
        <p14:creationId xmlns:p14="http://schemas.microsoft.com/office/powerpoint/2010/main" val="3414528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7091D7E-878E-4E61-AF86-2E81DB1FC5E4}" type="datetimeFigureOut">
              <a:rPr lang="en-ZA" smtClean="0"/>
              <a:t>2025/07/20</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1E4F0A3-1627-4A72-AEF6-23108B14B94E}" type="slidenum">
              <a:rPr lang="en-ZA" smtClean="0"/>
              <a:t>‹#›</a:t>
            </a:fld>
            <a:endParaRPr lang="en-ZA"/>
          </a:p>
        </p:txBody>
      </p:sp>
    </p:spTree>
    <p:extLst>
      <p:ext uri="{BB962C8B-B14F-4D97-AF65-F5344CB8AC3E}">
        <p14:creationId xmlns:p14="http://schemas.microsoft.com/office/powerpoint/2010/main" val="1313616689"/>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5A1A9BD2.xml"/><Relationship Id="rId2" Type="http://schemas.openxmlformats.org/officeDocument/2006/relationships/slideLayout" Target="../slideLayouts/slideLayout2.xml"/><Relationship Id="rId1" Type="http://schemas.openxmlformats.org/officeDocument/2006/relationships/video" Target="https://www.youtube.com/embed/5GdlOF4dCuE?feature=oembed"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04_8CB8B35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YFGNXpErBoY?feature=oembed"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1E1F0-0870-AE96-DDFE-0E9B217E57A5}"/>
              </a:ext>
            </a:extLst>
          </p:cNvPr>
          <p:cNvSpPr>
            <a:spLocks noGrp="1"/>
          </p:cNvSpPr>
          <p:nvPr>
            <p:ph type="ctrTitle"/>
          </p:nvPr>
        </p:nvSpPr>
        <p:spPr>
          <a:xfrm>
            <a:off x="1261872" y="758952"/>
            <a:ext cx="9418320" cy="2933482"/>
          </a:xfrm>
        </p:spPr>
        <p:txBody>
          <a:bodyPr/>
          <a:lstStyle/>
          <a:p>
            <a:r>
              <a:rPr lang="en-US" dirty="0"/>
              <a:t>INTRODUCTION AND ORIENTATION</a:t>
            </a:r>
            <a:endParaRPr lang="en-ZA" dirty="0"/>
          </a:p>
        </p:txBody>
      </p:sp>
      <p:sp>
        <p:nvSpPr>
          <p:cNvPr id="3" name="Subtitle 2">
            <a:extLst>
              <a:ext uri="{FF2B5EF4-FFF2-40B4-BE49-F238E27FC236}">
                <a16:creationId xmlns:a16="http://schemas.microsoft.com/office/drawing/2014/main" id="{AB356CAD-3F0D-1EDA-B834-87AE3380F45C}"/>
              </a:ext>
            </a:extLst>
          </p:cNvPr>
          <p:cNvSpPr>
            <a:spLocks noGrp="1"/>
          </p:cNvSpPr>
          <p:nvPr>
            <p:ph type="subTitle" idx="1"/>
          </p:nvPr>
        </p:nvSpPr>
        <p:spPr>
          <a:xfrm>
            <a:off x="1261872" y="3866606"/>
            <a:ext cx="9418320" cy="2625634"/>
          </a:xfrm>
        </p:spPr>
        <p:txBody>
          <a:bodyPr/>
          <a:lstStyle/>
          <a:p>
            <a:r>
              <a:rPr lang="en-US" dirty="0"/>
              <a:t>EM, ENCELADUX-1, WEEK1</a:t>
            </a:r>
          </a:p>
          <a:p>
            <a:r>
              <a:rPr lang="en-US" dirty="0"/>
              <a:t>Thabo Public School - </a:t>
            </a:r>
            <a:r>
              <a:rPr lang="en-US" dirty="0" err="1"/>
              <a:t>Retsamaile</a:t>
            </a:r>
            <a:r>
              <a:rPr lang="en-US" dirty="0"/>
              <a:t> Combined School</a:t>
            </a:r>
            <a:endParaRPr lang="en-ZA" dirty="0"/>
          </a:p>
        </p:txBody>
      </p:sp>
    </p:spTree>
    <p:extLst>
      <p:ext uri="{BB962C8B-B14F-4D97-AF65-F5344CB8AC3E}">
        <p14:creationId xmlns:p14="http://schemas.microsoft.com/office/powerpoint/2010/main" val="361611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2340A-DAD0-85EB-0F4C-B6DDA182394F}"/>
              </a:ext>
            </a:extLst>
          </p:cNvPr>
          <p:cNvSpPr>
            <a:spLocks noGrp="1"/>
          </p:cNvSpPr>
          <p:nvPr>
            <p:ph type="title"/>
          </p:nvPr>
        </p:nvSpPr>
        <p:spPr>
          <a:xfrm>
            <a:off x="646111" y="452718"/>
            <a:ext cx="9404723" cy="964602"/>
          </a:xfrm>
        </p:spPr>
        <p:txBody>
          <a:bodyPr/>
          <a:lstStyle/>
          <a:p>
            <a:r>
              <a:rPr lang="en-US" dirty="0"/>
              <a:t>Introductions</a:t>
            </a:r>
            <a:endParaRPr lang="en-ZA" dirty="0"/>
          </a:p>
        </p:txBody>
      </p:sp>
      <p:sp>
        <p:nvSpPr>
          <p:cNvPr id="3" name="Content Placeholder 2">
            <a:extLst>
              <a:ext uri="{FF2B5EF4-FFF2-40B4-BE49-F238E27FC236}">
                <a16:creationId xmlns:a16="http://schemas.microsoft.com/office/drawing/2014/main" id="{17BB6E5C-13F6-A98A-8CA3-3243CD950799}"/>
              </a:ext>
            </a:extLst>
          </p:cNvPr>
          <p:cNvSpPr>
            <a:spLocks noGrp="1"/>
          </p:cNvSpPr>
          <p:nvPr>
            <p:ph idx="1"/>
          </p:nvPr>
        </p:nvSpPr>
        <p:spPr>
          <a:xfrm>
            <a:off x="1261872" y="1417320"/>
            <a:ext cx="8595360" cy="5175069"/>
          </a:xfrm>
        </p:spPr>
        <p:txBody>
          <a:bodyPr>
            <a:normAutofit/>
          </a:bodyPr>
          <a:lstStyle/>
          <a:p>
            <a:r>
              <a:rPr lang="en-US" sz="2800" dirty="0" err="1"/>
              <a:t>Mathe</a:t>
            </a:r>
            <a:r>
              <a:rPr lang="en-US" sz="2800" dirty="0"/>
              <a:t> </a:t>
            </a:r>
            <a:r>
              <a:rPr lang="en-US" sz="2800" dirty="0" err="1"/>
              <a:t>Mohlamme</a:t>
            </a:r>
            <a:r>
              <a:rPr lang="en-US" sz="2800" dirty="0"/>
              <a:t>, BSc Statistics and Economics(UFS).</a:t>
            </a:r>
          </a:p>
          <a:p>
            <a:r>
              <a:rPr lang="en-US" sz="2800" dirty="0"/>
              <a:t>Member of evolved mentality and head of skills and learning division.</a:t>
            </a:r>
          </a:p>
          <a:p>
            <a:r>
              <a:rPr lang="en-US" sz="2800" dirty="0"/>
              <a:t>Head of enceladux-1.</a:t>
            </a:r>
          </a:p>
          <a:p>
            <a:r>
              <a:rPr lang="en-US" sz="2800" dirty="0"/>
              <a:t>Some work in full stack web development and an interest in data science.</a:t>
            </a:r>
          </a:p>
          <a:p>
            <a:endParaRPr lang="en-US" sz="2800" dirty="0"/>
          </a:p>
          <a:p>
            <a:endParaRPr lang="en-US" dirty="0"/>
          </a:p>
        </p:txBody>
      </p:sp>
    </p:spTree>
    <p:extLst>
      <p:ext uri="{BB962C8B-B14F-4D97-AF65-F5344CB8AC3E}">
        <p14:creationId xmlns:p14="http://schemas.microsoft.com/office/powerpoint/2010/main" val="924303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FDE-2A98-85DE-F7E6-1135DCC96DFD}"/>
              </a:ext>
            </a:extLst>
          </p:cNvPr>
          <p:cNvSpPr>
            <a:spLocks noGrp="1"/>
          </p:cNvSpPr>
          <p:nvPr>
            <p:ph type="title"/>
          </p:nvPr>
        </p:nvSpPr>
        <p:spPr/>
        <p:txBody>
          <a:bodyPr/>
          <a:lstStyle/>
          <a:p>
            <a:r>
              <a:rPr lang="en-US" dirty="0"/>
              <a:t>Purpose</a:t>
            </a:r>
            <a:endParaRPr lang="en-ZA" dirty="0"/>
          </a:p>
        </p:txBody>
      </p:sp>
      <p:sp>
        <p:nvSpPr>
          <p:cNvPr id="3" name="Content Placeholder 2">
            <a:extLst>
              <a:ext uri="{FF2B5EF4-FFF2-40B4-BE49-F238E27FC236}">
                <a16:creationId xmlns:a16="http://schemas.microsoft.com/office/drawing/2014/main" id="{0CA450AB-D326-0FF2-FFE2-1CB4EF5A4660}"/>
              </a:ext>
            </a:extLst>
          </p:cNvPr>
          <p:cNvSpPr>
            <a:spLocks noGrp="1"/>
          </p:cNvSpPr>
          <p:nvPr>
            <p:ph idx="1"/>
          </p:nvPr>
        </p:nvSpPr>
        <p:spPr>
          <a:xfrm>
            <a:off x="505097" y="1314994"/>
            <a:ext cx="10519953" cy="4865143"/>
          </a:xfrm>
        </p:spPr>
        <p:txBody>
          <a:bodyPr/>
          <a:lstStyle/>
          <a:p>
            <a:r>
              <a:rPr lang="en-US" dirty="0"/>
              <a:t>We are here because we need to build a community of builders and thinkers.</a:t>
            </a:r>
          </a:p>
          <a:p>
            <a:r>
              <a:rPr lang="en-US" dirty="0"/>
              <a:t>So, we are going to challenge ourselves to think differently and discover new things about ourselves. Why does this matter?</a:t>
            </a:r>
          </a:p>
          <a:p>
            <a:r>
              <a:rPr lang="en-US" dirty="0"/>
              <a:t>Firstly, its economical, meaning we really have to think if the things we focus on will make us richer in the future!</a:t>
            </a:r>
          </a:p>
          <a:p>
            <a:r>
              <a:rPr lang="en-US" dirty="0"/>
              <a:t>Things like skills development are the things you think about when you want to become successful in life, and that’s why you are part of this program and also why you are in school.</a:t>
            </a:r>
          </a:p>
          <a:p>
            <a:r>
              <a:rPr lang="en-US" dirty="0"/>
              <a:t>But all these things start with knowing about things, and things you need to do. So, information is GOLD.</a:t>
            </a:r>
          </a:p>
          <a:p>
            <a:r>
              <a:rPr lang="en-US" dirty="0"/>
              <a:t>Meaning we will be sharing information and discovering new tools.</a:t>
            </a:r>
          </a:p>
        </p:txBody>
      </p:sp>
    </p:spTree>
    <p:extLst>
      <p:ext uri="{BB962C8B-B14F-4D97-AF65-F5344CB8AC3E}">
        <p14:creationId xmlns:p14="http://schemas.microsoft.com/office/powerpoint/2010/main" val="1206153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C4B-66A8-4331-1D06-13B63224BD09}"/>
              </a:ext>
            </a:extLst>
          </p:cNvPr>
          <p:cNvSpPr>
            <a:spLocks noGrp="1"/>
          </p:cNvSpPr>
          <p:nvPr>
            <p:ph type="title"/>
          </p:nvPr>
        </p:nvSpPr>
        <p:spPr/>
        <p:txBody>
          <a:bodyPr/>
          <a:lstStyle/>
          <a:p>
            <a:r>
              <a:rPr lang="en-US" dirty="0"/>
              <a:t>The Future and Now!</a:t>
            </a:r>
            <a:endParaRPr lang="en-ZA" dirty="0"/>
          </a:p>
        </p:txBody>
      </p:sp>
      <p:sp>
        <p:nvSpPr>
          <p:cNvPr id="3" name="Content Placeholder 2">
            <a:extLst>
              <a:ext uri="{FF2B5EF4-FFF2-40B4-BE49-F238E27FC236}">
                <a16:creationId xmlns:a16="http://schemas.microsoft.com/office/drawing/2014/main" id="{3CE3301B-4FE9-BFD6-19F1-7258345638CD}"/>
              </a:ext>
            </a:extLst>
          </p:cNvPr>
          <p:cNvSpPr>
            <a:spLocks noGrp="1"/>
          </p:cNvSpPr>
          <p:nvPr>
            <p:ph idx="1"/>
          </p:nvPr>
        </p:nvSpPr>
        <p:spPr>
          <a:xfrm>
            <a:off x="1261872" y="1349830"/>
            <a:ext cx="9919934" cy="5320936"/>
          </a:xfrm>
        </p:spPr>
        <p:txBody>
          <a:bodyPr/>
          <a:lstStyle/>
          <a:p>
            <a:r>
              <a:rPr lang="en-US" dirty="0"/>
              <a:t>We are living in a technological world. This means we have to understand what technology is, and then find a way of using it to our benefit.</a:t>
            </a:r>
          </a:p>
          <a:p>
            <a:r>
              <a:rPr lang="en-US" dirty="0">
                <a:solidFill>
                  <a:schemeClr val="accent2"/>
                </a:solidFill>
              </a:rPr>
              <a:t>Question to the class: What do you think about when you think about technology?</a:t>
            </a:r>
          </a:p>
          <a:p>
            <a:endParaRPr lang="en-ZA" dirty="0"/>
          </a:p>
        </p:txBody>
      </p:sp>
      <p:pic>
        <p:nvPicPr>
          <p:cNvPr id="4" name="Online Media 3" title="What is TECHNOLOGY?">
            <a:hlinkClick r:id="" action="ppaction://media"/>
            <a:extLst>
              <a:ext uri="{FF2B5EF4-FFF2-40B4-BE49-F238E27FC236}">
                <a16:creationId xmlns:a16="http://schemas.microsoft.com/office/drawing/2014/main" id="{F0AFD2FE-2FE5-82BC-AADB-49A497355989}"/>
              </a:ext>
            </a:extLst>
          </p:cNvPr>
          <p:cNvPicPr>
            <a:picLocks noRot="1" noChangeAspect="1"/>
          </p:cNvPicPr>
          <p:nvPr>
            <a:videoFile r:link="rId1"/>
          </p:nvPr>
        </p:nvPicPr>
        <p:blipFill>
          <a:blip r:embed="rId4"/>
          <a:stretch>
            <a:fillRect/>
          </a:stretch>
        </p:blipFill>
        <p:spPr>
          <a:xfrm>
            <a:off x="2762069" y="3054531"/>
            <a:ext cx="6216469" cy="3088459"/>
          </a:xfrm>
          <a:prstGeom prst="rect">
            <a:avLst/>
          </a:prstGeom>
        </p:spPr>
      </p:pic>
    </p:spTree>
    <p:extLst>
      <p:ext uri="{BB962C8B-B14F-4D97-AF65-F5344CB8AC3E}">
        <p14:creationId xmlns:p14="http://schemas.microsoft.com/office/powerpoint/2010/main" val="151169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89C8-C869-8E83-599E-2C667D1F4D1C}"/>
              </a:ext>
            </a:extLst>
          </p:cNvPr>
          <p:cNvSpPr>
            <a:spLocks noGrp="1"/>
          </p:cNvSpPr>
          <p:nvPr>
            <p:ph type="title"/>
          </p:nvPr>
        </p:nvSpPr>
        <p:spPr>
          <a:xfrm>
            <a:off x="1261872" y="365760"/>
            <a:ext cx="9692640" cy="905691"/>
          </a:xfrm>
        </p:spPr>
        <p:txBody>
          <a:bodyPr/>
          <a:lstStyle/>
          <a:p>
            <a:r>
              <a:rPr lang="en-US" dirty="0"/>
              <a:t>History of Technology</a:t>
            </a:r>
            <a:endParaRPr lang="en-ZA" dirty="0"/>
          </a:p>
        </p:txBody>
      </p:sp>
      <p:graphicFrame>
        <p:nvGraphicFramePr>
          <p:cNvPr id="4" name="Content Placeholder 3">
            <a:extLst>
              <a:ext uri="{FF2B5EF4-FFF2-40B4-BE49-F238E27FC236}">
                <a16:creationId xmlns:a16="http://schemas.microsoft.com/office/drawing/2014/main" id="{232EF2D8-E6C1-05C5-A630-A72F7579E210}"/>
              </a:ext>
            </a:extLst>
          </p:cNvPr>
          <p:cNvGraphicFramePr>
            <a:graphicFrameLocks noGrp="1"/>
          </p:cNvGraphicFramePr>
          <p:nvPr>
            <p:ph idx="1"/>
            <p:extLst>
              <p:ext uri="{D42A27DB-BD31-4B8C-83A1-F6EECF244321}">
                <p14:modId xmlns:p14="http://schemas.microsoft.com/office/powerpoint/2010/main" val="3868427651"/>
              </p:ext>
            </p:extLst>
          </p:nvPr>
        </p:nvGraphicFramePr>
        <p:xfrm>
          <a:off x="1262063" y="4493624"/>
          <a:ext cx="9196931" cy="16865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724B760-B8DA-E367-7C31-76077E2E7BD5}"/>
              </a:ext>
            </a:extLst>
          </p:cNvPr>
          <p:cNvSpPr txBox="1"/>
          <p:nvPr/>
        </p:nvSpPr>
        <p:spPr>
          <a:xfrm>
            <a:off x="687978" y="1820091"/>
            <a:ext cx="10380616" cy="2308324"/>
          </a:xfrm>
          <a:prstGeom prst="rect">
            <a:avLst/>
          </a:prstGeom>
          <a:noFill/>
        </p:spPr>
        <p:txBody>
          <a:bodyPr wrap="square" rtlCol="0">
            <a:spAutoFit/>
          </a:bodyPr>
          <a:lstStyle/>
          <a:p>
            <a:r>
              <a:rPr lang="en-US" dirty="0"/>
              <a:t>This section servers as an activity. We will watch a short video and the students will present their note-work.</a:t>
            </a:r>
          </a:p>
          <a:p>
            <a:endParaRPr lang="en-US" dirty="0"/>
          </a:p>
          <a:p>
            <a:r>
              <a:rPr lang="en-US" dirty="0"/>
              <a:t>It is important to get a glimpse of the past in order for us to understand the </a:t>
            </a:r>
            <a:r>
              <a:rPr lang="en-US" b="1" dirty="0">
                <a:solidFill>
                  <a:schemeClr val="accent5">
                    <a:lumMod val="60000"/>
                    <a:lumOff val="40000"/>
                  </a:schemeClr>
                </a:solidFill>
              </a:rPr>
              <a:t>concept of innovation and the speed of it.</a:t>
            </a:r>
          </a:p>
          <a:p>
            <a:endParaRPr lang="en-US" b="1" dirty="0">
              <a:solidFill>
                <a:schemeClr val="accent5">
                  <a:lumMod val="60000"/>
                  <a:lumOff val="40000"/>
                </a:schemeClr>
              </a:solidFill>
            </a:endParaRPr>
          </a:p>
          <a:p>
            <a:r>
              <a:rPr lang="en-US" b="1" dirty="0"/>
              <a:t>We also need to understand that technology is everywhere, so as we learn, we have to keep in mind that what we are learning can always be useful somewhere.</a:t>
            </a:r>
            <a:endParaRPr lang="en-ZA" b="1" dirty="0"/>
          </a:p>
        </p:txBody>
      </p:sp>
    </p:spTree>
    <p:extLst>
      <p:ext uri="{BB962C8B-B14F-4D97-AF65-F5344CB8AC3E}">
        <p14:creationId xmlns:p14="http://schemas.microsoft.com/office/powerpoint/2010/main" val="236091477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B941-A7E9-02C3-B80F-BFB0B8DD715A}"/>
              </a:ext>
            </a:extLst>
          </p:cNvPr>
          <p:cNvSpPr>
            <a:spLocks noGrp="1"/>
          </p:cNvSpPr>
          <p:nvPr>
            <p:ph type="title"/>
          </p:nvPr>
        </p:nvSpPr>
        <p:spPr>
          <a:xfrm>
            <a:off x="1261872" y="365760"/>
            <a:ext cx="9692640" cy="600891"/>
          </a:xfrm>
        </p:spPr>
        <p:txBody>
          <a:bodyPr>
            <a:normAutofit fontScale="90000"/>
          </a:bodyPr>
          <a:lstStyle/>
          <a:p>
            <a:r>
              <a:rPr lang="en-US" dirty="0"/>
              <a:t>Activity-1</a:t>
            </a:r>
            <a:endParaRPr lang="en-ZA" dirty="0"/>
          </a:p>
        </p:txBody>
      </p:sp>
      <p:pic>
        <p:nvPicPr>
          <p:cNvPr id="4" name="Online Media 3" title="The Evolution of Technology |How It has Changed The World|">
            <a:hlinkClick r:id="" action="ppaction://media"/>
            <a:extLst>
              <a:ext uri="{FF2B5EF4-FFF2-40B4-BE49-F238E27FC236}">
                <a16:creationId xmlns:a16="http://schemas.microsoft.com/office/drawing/2014/main" id="{7E2727D7-C946-970F-5538-B11FDEAB86BB}"/>
              </a:ext>
            </a:extLst>
          </p:cNvPr>
          <p:cNvPicPr>
            <a:picLocks noGrp="1" noRot="1" noChangeAspect="1"/>
          </p:cNvPicPr>
          <p:nvPr>
            <p:ph idx="1"/>
            <a:videoFile r:link="rId1"/>
          </p:nvPr>
        </p:nvPicPr>
        <p:blipFill>
          <a:blip r:embed="rId3"/>
          <a:stretch>
            <a:fillRect/>
          </a:stretch>
        </p:blipFill>
        <p:spPr>
          <a:xfrm>
            <a:off x="2577737" y="3148148"/>
            <a:ext cx="6365965" cy="3344092"/>
          </a:xfrm>
          <a:prstGeom prst="rect">
            <a:avLst/>
          </a:prstGeom>
        </p:spPr>
      </p:pic>
      <p:pic>
        <p:nvPicPr>
          <p:cNvPr id="6" name="Picture 5">
            <a:extLst>
              <a:ext uri="{FF2B5EF4-FFF2-40B4-BE49-F238E27FC236}">
                <a16:creationId xmlns:a16="http://schemas.microsoft.com/office/drawing/2014/main" id="{D8FD6A71-DC74-8A7D-DF10-23C686C05816}"/>
              </a:ext>
            </a:extLst>
          </p:cNvPr>
          <p:cNvPicPr>
            <a:picLocks noChangeAspect="1"/>
          </p:cNvPicPr>
          <p:nvPr/>
        </p:nvPicPr>
        <p:blipFill>
          <a:blip r:embed="rId4"/>
          <a:stretch>
            <a:fillRect/>
          </a:stretch>
        </p:blipFill>
        <p:spPr>
          <a:xfrm>
            <a:off x="1261872" y="966650"/>
            <a:ext cx="9199661" cy="2063931"/>
          </a:xfrm>
          <a:prstGeom prst="rect">
            <a:avLst/>
          </a:prstGeom>
        </p:spPr>
      </p:pic>
    </p:spTree>
    <p:extLst>
      <p:ext uri="{BB962C8B-B14F-4D97-AF65-F5344CB8AC3E}">
        <p14:creationId xmlns:p14="http://schemas.microsoft.com/office/powerpoint/2010/main" val="382237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4523</TotalTime>
  <Words>333</Words>
  <Application>Microsoft Office PowerPoint</Application>
  <PresentationFormat>Widescreen</PresentationFormat>
  <Paragraphs>28</Paragraphs>
  <Slides>6</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vt:lpstr>
      <vt:lpstr>INTRODUCTION AND ORIENTATION</vt:lpstr>
      <vt:lpstr>Introductions</vt:lpstr>
      <vt:lpstr>Purpose</vt:lpstr>
      <vt:lpstr>The Future and Now!</vt:lpstr>
      <vt:lpstr>History of Technology</vt:lpstr>
      <vt:lpstr>Activity-1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AND ORIENTATION</dc:title>
  <dc:creator>Bloem Printings Pty Ltd</dc:creator>
  <cp:lastModifiedBy>Bloem Printings Pty Ltd</cp:lastModifiedBy>
  <cp:revision>2</cp:revision>
  <dcterms:created xsi:type="dcterms:W3CDTF">2025-07-12T11:56:32Z</dcterms:created>
  <dcterms:modified xsi:type="dcterms:W3CDTF">2025-07-23T16:46:17Z</dcterms:modified>
</cp:coreProperties>
</file>